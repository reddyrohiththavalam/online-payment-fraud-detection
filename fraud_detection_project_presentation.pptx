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Online Payment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509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CE6F0"/>
                </a:solidFill>
              </a:rPr>
              <a:t>RXT-J / EARN Based Deep Learning Pipeline for Fraud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685800"/>
            <a:ext cx="3291840" cy="3200400"/>
          </a:xfrm>
          <a:prstGeom prst="rect">
            <a:avLst/>
          </a:prstGeom>
          <a:solidFill>
            <a:srgbClr val="F1F6FA"/>
          </a:solidFill>
          <a:ln w="19050">
            <a:solidFill>
              <a:srgbClr val="0F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960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846"/>
                </a:solidFill>
              </a:rPr>
              <a:t>Key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5448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629"/>
                </a:solidFill>
              </a:rPr>
              <a:t>Accuracy: 0.80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574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629"/>
                </a:solidFill>
              </a:rPr>
              <a:t>Recall: 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603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629"/>
                </a:solidFill>
              </a:rPr>
              <a:t>AUC-ROC: 0.96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0632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629"/>
                </a:solidFill>
              </a:rPr>
              <a:t>F1: 0.48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26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Project presentation generated from the RXT-J fraud detection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46"/>
                </a:solidFill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166"/>
                </a:solidFill>
              </a:rPr>
              <a:t>Why this project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4846320" cy="4206240"/>
          </a:xfrm>
          <a:prstGeom prst="rect">
            <a:avLst/>
          </a:prstGeom>
          <a:solidFill>
            <a:srgbClr val="F4F7FA"/>
          </a:solidFill>
          <a:ln w="19050">
            <a:solidFill>
              <a:srgbClr val="1B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3891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Digital payment systems handle high transaction volume and fraud risks.</a:t>
            </a:r>
          </a:p>
          <a:p>
            <a:pPr>
              <a:spcAft>
                <a:spcPts val="1000"/>
              </a:spcAft>
              <a:defRPr sz="1900"/>
            </a:pPr>
            <a:r>
              <a:t>• Fraud patterns are sparse, imbalanced, and evolve over time.</a:t>
            </a:r>
          </a:p>
          <a:p>
            <a:pPr>
              <a:spcAft>
                <a:spcPts val="1000"/>
              </a:spcAft>
              <a:defRPr sz="1900"/>
            </a:pPr>
            <a:r>
              <a:t>• A robust detector must minimize false negatives while preserving usable precision.</a:t>
            </a:r>
          </a:p>
          <a:p>
            <a:pPr>
              <a:spcAft>
                <a:spcPts val="1000"/>
              </a:spcAft>
              <a:defRPr sz="1900"/>
            </a:pPr>
            <a:r>
              <a:t>• The goal is to create a practical model pipeline that can train, evaluate, and score transactions reliably.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4023360"/>
          </a:xfrm>
          <a:prstGeom prst="rect">
            <a:avLst/>
          </a:prstGeom>
          <a:solidFill>
            <a:srgbClr val="E7EFF7"/>
          </a:solidFill>
          <a:ln w="19050">
            <a:solidFill>
              <a:srgbClr val="3DA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 b="0"/>
            </a:pPr>
            <a:r>
              <a:t>Build a modular fraud detection pipeline</a:t>
            </a:r>
          </a:p>
          <a:p>
            <a:pPr>
              <a:spcAft>
                <a:spcPts val="1400"/>
              </a:spcAft>
              <a:defRPr sz="2000" b="0"/>
            </a:pPr>
            <a:r>
              <a:t>Preprocess transaction data with missing-value and category handling</a:t>
            </a:r>
          </a:p>
          <a:p>
            <a:pPr>
              <a:spcAft>
                <a:spcPts val="1400"/>
              </a:spcAft>
              <a:defRPr sz="2000" b="0"/>
            </a:pPr>
            <a:r>
              <a:t>Generate sequence-aware features for temporal modeling</a:t>
            </a:r>
          </a:p>
          <a:p>
            <a:pPr>
              <a:spcAft>
                <a:spcPts val="1400"/>
              </a:spcAft>
              <a:defRPr sz="2000" b="0"/>
            </a:pPr>
            <a:r>
              <a:t>Train a deep learning classifier and compare performance using held-out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46"/>
                </a:solidFill>
              </a:rPr>
              <a:t>Data Preparation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166"/>
                </a:solidFill>
              </a:rPr>
              <a:t>From raw transactions to model-ready sequences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303520" cy="4480560"/>
          </a:xfrm>
          <a:prstGeom prst="rect">
            <a:avLst/>
          </a:prstGeom>
          <a:solidFill>
            <a:srgbClr val="F4F7FA"/>
          </a:solidFill>
          <a:ln w="19050">
            <a:solidFill>
              <a:srgbClr val="1B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Drop redundant identifiers and irrelevant columns</a:t>
            </a:r>
          </a:p>
          <a:p>
            <a:pPr>
              <a:spcAft>
                <a:spcPts val="800"/>
              </a:spcAft>
              <a:defRPr sz="1800"/>
            </a:pPr>
            <a:r>
              <a:t>• Impute missing numeric values and retain all feature columns</a:t>
            </a:r>
          </a:p>
          <a:p>
            <a:pPr>
              <a:spcAft>
                <a:spcPts val="800"/>
              </a:spcAft>
              <a:defRPr sz="1800"/>
            </a:pPr>
            <a:r>
              <a:t>• Standardize numerical variables for stable optimization</a:t>
            </a:r>
          </a:p>
          <a:p>
            <a:pPr>
              <a:spcAft>
                <a:spcPts val="800"/>
              </a:spcAft>
              <a:defRPr sz="1800"/>
            </a:pPr>
            <a:r>
              <a:t>• Encode categorical fields via one-hot transformation</a:t>
            </a:r>
          </a:p>
          <a:p>
            <a:pPr>
              <a:spcAft>
                <a:spcPts val="800"/>
              </a:spcAft>
              <a:defRPr sz="1800"/>
            </a:pPr>
            <a:r>
              <a:t>• Generate temporal transaction windows for sequence modeling</a:t>
            </a:r>
          </a:p>
          <a:p>
            <a:pPr>
              <a:spcAft>
                <a:spcPts val="800"/>
              </a:spcAft>
              <a:defRPr sz="1800"/>
            </a:pPr>
            <a:r>
              <a:t>• Apply SMOTE only to training data to reduce class imbalance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280160"/>
            <a:ext cx="4937760" cy="4023360"/>
          </a:xfrm>
          <a:prstGeom prst="rect">
            <a:avLst/>
          </a:prstGeom>
          <a:solidFill>
            <a:srgbClr val="E8F2FA"/>
          </a:solidFill>
          <a:ln w="19050">
            <a:solidFill>
              <a:srgbClr val="3DA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2976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Dataset: synthetic PaySim-like financial transactions</a:t>
            </a:r>
          </a:p>
          <a:p>
            <a:pPr>
              <a:spcAft>
                <a:spcPts val="1000"/>
              </a:spcAft>
              <a:defRPr sz="1800"/>
            </a:pPr>
            <a:r>
              <a:t>Binary target: isFraud</a:t>
            </a:r>
          </a:p>
          <a:p>
            <a:pPr>
              <a:spcAft>
                <a:spcPts val="1000"/>
              </a:spcAft>
              <a:defRPr sz="1800"/>
            </a:pPr>
            <a:r>
              <a:t>Sequence length: configurable, default = 10</a:t>
            </a:r>
          </a:p>
          <a:p>
            <a:pPr>
              <a:spcAft>
                <a:spcPts val="1000"/>
              </a:spcAft>
              <a:defRPr sz="1800"/>
            </a:pPr>
            <a:r>
              <a:t>Sorting based on step / transaction time when present</a:t>
            </a:r>
          </a:p>
          <a:p>
            <a:pPr>
              <a:spcAft>
                <a:spcPts val="1000"/>
              </a:spcAft>
              <a:defRPr sz="1800"/>
            </a:pPr>
            <a:r>
              <a:t>Output bundle includes preprocessing + model weights + metadata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46"/>
                </a:solidFill>
              </a:rPr>
              <a:t>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166"/>
                </a:solidFill>
              </a:rPr>
              <a:t>RXT-J / EARN hybrid deep learning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200400" cy="3017520"/>
          </a:xfrm>
          <a:prstGeom prst="rect">
            <a:avLst/>
          </a:prstGeom>
          <a:solidFill>
            <a:srgbClr val="F4F7FA"/>
          </a:solidFill>
          <a:ln w="19050">
            <a:solidFill>
              <a:srgbClr val="1B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743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F2846"/>
                </a:solidFill>
              </a:defRPr>
            </a:pPr>
            <a:r>
              <a:t>Tabular preprocessing</a:t>
            </a:r>
          </a:p>
          <a:p>
            <a:pPr>
              <a:defRPr sz="1400">
                <a:solidFill>
                  <a:srgbClr val="232629"/>
                </a:solidFill>
              </a:defRPr>
            </a:pPr>
            <a:r>
              <a:t>Missing value handling, scaling, one-hot encoding, feature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200400" cy="3017520"/>
          </a:xfrm>
          <a:prstGeom prst="rect">
            <a:avLst/>
          </a:prstGeom>
          <a:solidFill>
            <a:srgbClr val="F4F7FA"/>
          </a:solidFill>
          <a:ln w="19050">
            <a:solidFill>
              <a:srgbClr val="1B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057400"/>
            <a:ext cx="2743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F2846"/>
                </a:solidFill>
              </a:defRPr>
            </a:pPr>
            <a:r>
              <a:t>EARN Feature Extractors</a:t>
            </a:r>
          </a:p>
          <a:p>
            <a:pPr>
              <a:defRPr sz="1400">
                <a:solidFill>
                  <a:srgbClr val="232629"/>
                </a:solidFill>
              </a:defRPr>
            </a:pPr>
            <a:r>
              <a:t>Autoencoder latent features + ResNet projection + PCA / anomaly signals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737360"/>
            <a:ext cx="3200400" cy="3017520"/>
          </a:xfrm>
          <a:prstGeom prst="rect">
            <a:avLst/>
          </a:prstGeom>
          <a:solidFill>
            <a:srgbClr val="F4F7FA"/>
          </a:solidFill>
          <a:ln w="19050">
            <a:solidFill>
              <a:srgbClr val="1B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57400"/>
            <a:ext cx="2743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F2846"/>
                </a:solidFill>
              </a:defRPr>
            </a:pPr>
            <a:r>
              <a:t>RXT-J Classifier</a:t>
            </a:r>
          </a:p>
          <a:p>
            <a:pPr>
              <a:defRPr sz="1400">
                <a:solidFill>
                  <a:srgbClr val="232629"/>
                </a:solidFill>
              </a:defRPr>
            </a:pPr>
            <a:r>
              <a:t>Temporal GRU-based classifier with Jaya-driven hyperparameter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46"/>
                </a:solidFill>
              </a:rPr>
              <a:t>Training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166"/>
                </a:solidFill>
              </a:rPr>
              <a:t>Optimization and validation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5303520" cy="4206240"/>
          </a:xfrm>
          <a:prstGeom prst="rect">
            <a:avLst/>
          </a:prstGeom>
          <a:solidFill>
            <a:srgbClr val="F4F8FA"/>
          </a:solidFill>
          <a:ln w="19050">
            <a:solidFill>
              <a:srgbClr val="0F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Train/validation/test split with held-out final evaluation only</a:t>
            </a:r>
          </a:p>
          <a:p>
            <a:pPr>
              <a:spcAft>
                <a:spcPts val="1000"/>
              </a:spcAft>
              <a:defRPr sz="2000"/>
            </a:pPr>
            <a:r>
              <a:t>• Jaya search selects learning rate, batch size, weight decay, and GRU units</a:t>
            </a:r>
          </a:p>
          <a:p>
            <a:pPr>
              <a:spcAft>
                <a:spcPts val="1000"/>
              </a:spcAft>
              <a:defRPr sz="2000"/>
            </a:pPr>
            <a:r>
              <a:t>• Validation-based model selection minimizes overfitting risk</a:t>
            </a:r>
          </a:p>
          <a:p>
            <a:pPr>
              <a:spcAft>
                <a:spcPts val="1000"/>
              </a:spcAft>
              <a:defRPr sz="2000"/>
            </a:pPr>
            <a:r>
              <a:t>• SMOTE is applied only to the training sequence set to preserve realistic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463040"/>
            <a:ext cx="4937760" cy="3474720"/>
          </a:xfrm>
          <a:prstGeom prst="rect">
            <a:avLst/>
          </a:prstGeom>
          <a:solidFill>
            <a:srgbClr val="E5F0F8"/>
          </a:solidFill>
          <a:ln w="19050">
            <a:solidFill>
              <a:srgbClr val="3DA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920240"/>
            <a:ext cx="42976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Best validation AUC: 1.00</a:t>
            </a:r>
          </a:p>
          <a:p>
            <a:pPr>
              <a:spcAft>
                <a:spcPts val="600"/>
              </a:spcAft>
              <a:defRPr sz="1800"/>
            </a:pPr>
            <a:r>
              <a:t>Best batch size: 104</a:t>
            </a:r>
          </a:p>
          <a:p>
            <a:pPr>
              <a:spcAft>
                <a:spcPts val="600"/>
              </a:spcAft>
              <a:defRPr sz="1800"/>
            </a:pPr>
            <a:r>
              <a:t>Learning rate: 0.00137</a:t>
            </a:r>
          </a:p>
          <a:p>
            <a:pPr>
              <a:spcAft>
                <a:spcPts val="600"/>
              </a:spcAft>
              <a:defRPr sz="1800"/>
            </a:pPr>
            <a:r>
              <a:t>Weight decay: 0.00086</a:t>
            </a:r>
          </a:p>
          <a:p>
            <a:pPr>
              <a:spcAft>
                <a:spcPts val="600"/>
              </a:spcAft>
              <a:defRPr sz="1800"/>
            </a:pPr>
            <a:r>
              <a:t>GRU units: 96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46"/>
                </a:solidFill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166"/>
                </a:solidFill>
              </a:rPr>
              <a:t>Held-out test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4206240" cy="4023360"/>
          </a:xfrm>
          <a:prstGeom prst="rect">
            <a:avLst/>
          </a:prstGeom>
          <a:solidFill>
            <a:srgbClr val="F5F9FC"/>
          </a:solidFill>
          <a:ln w="19050">
            <a:solidFill>
              <a:srgbClr val="1B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6576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Accuracy: 0.8000</a:t>
            </a:r>
          </a:p>
          <a:p>
            <a:pPr>
              <a:spcAft>
                <a:spcPts val="800"/>
              </a:spcAft>
              <a:defRPr sz="1800"/>
            </a:pPr>
            <a:r>
              <a:t>Precision: 0.3182</a:t>
            </a:r>
          </a:p>
          <a:p>
            <a:pPr>
              <a:spcAft>
                <a:spcPts val="800"/>
              </a:spcAft>
              <a:defRPr sz="1800"/>
            </a:pPr>
            <a:r>
              <a:t>Recall: 1.0000</a:t>
            </a:r>
          </a:p>
          <a:p>
            <a:pPr>
              <a:spcAft>
                <a:spcPts val="800"/>
              </a:spcAft>
              <a:defRPr sz="1800"/>
            </a:pPr>
            <a:r>
              <a:t>F1 Score: 0.4828</a:t>
            </a:r>
          </a:p>
          <a:p>
            <a:pPr>
              <a:spcAft>
                <a:spcPts val="800"/>
              </a:spcAft>
              <a:defRPr sz="1800"/>
            </a:pPr>
            <a:r>
              <a:t>MCC: 0.4980</a:t>
            </a:r>
          </a:p>
          <a:p>
            <a:pPr>
              <a:spcAft>
                <a:spcPts val="800"/>
              </a:spcAft>
              <a:defRPr sz="1800"/>
            </a:pPr>
            <a:r>
              <a:t>Log Loss: 0.6384</a:t>
            </a:r>
          </a:p>
          <a:p>
            <a:pPr>
              <a:spcAft>
                <a:spcPts val="800"/>
              </a:spcAft>
              <a:defRPr sz="1800"/>
            </a:pPr>
            <a:r>
              <a:t>AUC-ROC: 0.9643</a:t>
            </a:r>
          </a:p>
        </p:txBody>
      </p:sp>
      <p:pic>
        <p:nvPicPr>
          <p:cNvPr id="6" name="Picture 5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45920"/>
            <a:ext cx="2926080" cy="2286000"/>
          </a:xfrm>
          <a:prstGeom prst="rect">
            <a:avLst/>
          </a:prstGeom>
        </p:spPr>
      </p:pic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645920"/>
            <a:ext cx="27432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40680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846"/>
                </a:solidFill>
              </a:defRPr>
            </a:pPr>
            <a:r>
              <a:t>ROC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846"/>
                </a:solidFill>
              </a:defRPr>
            </a:pPr>
            <a:r>
              <a:t>Confusion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46"/>
                </a:solidFill>
              </a:rPr>
              <a:t>Deployment &amp; Practical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166"/>
                </a:solidFill>
              </a:rPr>
              <a:t>How the pipeline is used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303520" cy="4023360"/>
          </a:xfrm>
          <a:prstGeom prst="rect">
            <a:avLst/>
          </a:prstGeom>
          <a:solidFill>
            <a:srgbClr val="F4F7FA"/>
          </a:solidFill>
          <a:ln w="19050">
            <a:solidFill>
              <a:srgbClr val="1B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Train with: py train.py</a:t>
            </a:r>
          </a:p>
          <a:p>
            <a:pPr>
              <a:spcAft>
                <a:spcPts val="1000"/>
              </a:spcAft>
              <a:defRPr sz="1900"/>
            </a:pPr>
            <a:r>
              <a:t>• Score new transaction CSVs with: py predict.py</a:t>
            </a:r>
          </a:p>
          <a:p>
            <a:pPr>
              <a:spcAft>
                <a:spcPts val="1000"/>
              </a:spcAft>
              <a:defRPr sz="1900"/>
            </a:pPr>
            <a:r>
              <a:t>• Launch the web app with: py web_app.py</a:t>
            </a:r>
          </a:p>
          <a:p>
            <a:pPr>
              <a:spcAft>
                <a:spcPts val="1000"/>
              </a:spcAft>
              <a:defRPr sz="1900"/>
            </a:pPr>
            <a:r>
              <a:t>• Load trusted model bundles only; bundle includes joblib objects and Keras models</a:t>
            </a:r>
          </a:p>
          <a:p>
            <a:pPr>
              <a:spcAft>
                <a:spcPts val="1000"/>
              </a:spcAft>
              <a:defRPr sz="1900"/>
            </a:pPr>
            <a:r>
              <a:t>• Use a meaningful transaction-time ordering for sequence-aware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463040"/>
            <a:ext cx="4663440" cy="3200400"/>
          </a:xfrm>
          <a:prstGeom prst="rect">
            <a:avLst/>
          </a:prstGeom>
          <a:solidFill>
            <a:srgbClr val="E9F6F2"/>
          </a:solidFill>
          <a:ln w="19050">
            <a:solidFill>
              <a:srgbClr val="3DA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114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CSV-based batch scoring</a:t>
            </a:r>
          </a:p>
          <a:p>
            <a:pPr>
              <a:spcAft>
                <a:spcPts val="1000"/>
              </a:spcAft>
              <a:defRPr sz="1800"/>
            </a:pPr>
            <a:r>
              <a:t>• Single-row interactive form</a:t>
            </a:r>
          </a:p>
          <a:p>
            <a:pPr>
              <a:spcAft>
                <a:spcPts val="1000"/>
              </a:spcAft>
              <a:defRPr sz="1800"/>
            </a:pPr>
            <a:r>
              <a:t>• Model bundle persistence</a:t>
            </a:r>
          </a:p>
          <a:p>
            <a:pPr>
              <a:spcAft>
                <a:spcPts val="1000"/>
              </a:spcAft>
              <a:defRPr sz="1800"/>
            </a:pPr>
            <a:r>
              <a:t>• Sequence-aware inference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46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166"/>
                </a:solidFill>
              </a:rPr>
              <a:t>Project outcome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241280" cy="3840480"/>
          </a:xfrm>
          <a:prstGeom prst="rect">
            <a:avLst/>
          </a:prstGeom>
          <a:solidFill>
            <a:srgbClr val="F7F9FC"/>
          </a:solidFill>
          <a:ln w="19050">
            <a:solidFill>
              <a:srgbClr val="0F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326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/>
            </a:pPr>
            <a:r>
              <a:t>This project successfully builds a complete fraud-detection workflow from preprocessing through deployment-ready inference.</a:t>
            </a:r>
          </a:p>
          <a:p>
            <a:pPr>
              <a:spcAft>
                <a:spcPts val="1600"/>
              </a:spcAft>
              <a:defRPr sz="2400"/>
            </a:pPr>
            <a:r>
              <a:t>The hybrid RXT-J / EARN design combines tabular modeling, sequence learning, and optimization to handle class imbalance and temporal patterns.</a:t>
            </a:r>
          </a:p>
          <a:p>
            <a:pPr>
              <a:spcAft>
                <a:spcPts val="1600"/>
              </a:spcAft>
              <a:defRPr sz="2400"/>
            </a:pPr>
            <a:r>
              <a:t>Future improvements could include real dataset benchmarking, explainability, hyperparameter tuning at scale, and deployment in a monitored production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